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A51C3C6B-49AA-0DD9-EDD6-F03E5A9C970A}">
          <p14:sldIdLst>
            <p14:sldId id="256"/>
          </p14:sldIdLst>
        </p14:section>
        <p14:section name="Gambaran" id="{BE01D971-DCCB-45EF-5344-A0A3BF5EABD7}">
          <p14:sldIdLst>
            <p14:sldId id="257"/>
            <p14:sldId id="258"/>
          </p14:sldIdLst>
        </p14:section>
        <p14:section name="Fitur &amp; Alur" id="{2052CC33-7139-A33B-828A-ECA1F2132188}">
          <p14:sldIdLst>
            <p14:sldId id="259"/>
            <p14:sldId id="260"/>
          </p14:sldIdLst>
        </p14:section>
        <p14:section name="Alternatif Desain" id="{289AD146-9074-110C-37BE-C4E2AF88E0F1}">
          <p14:sldIdLst>
            <p14:sldId id="261"/>
            <p14:sldId id="262"/>
            <p14:sldId id="263"/>
            <p14:sldId id="264"/>
          </p14:sldIdLst>
        </p14:section>
        <p14:section name="Perencanaan" id="{31465BDE-2D73-59B7-BD32-68ACA912DD7A}">
          <p14:sldIdLst>
            <p14:sldId id="265"/>
          </p14:sldIdLst>
        </p14:section>
        <p14:section name="Penutup" id="{08A4174B-11ED-5D2A-CE5D-3BA34116DB47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348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Gawean: aplikasi lowongan kerja yang berfokus pada pekerjaan di sekitar pengguna. Deck ini membahas konsep, fitur, alur, dan tiga alternatif desain.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banyak lowongan lokal tidak terdokumentasi dengan baik; Gawean mengumpulkannya dalam satu tempat.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manfaat utama: dekat, transparan, dan cepat.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Enam fitur inti. Lowongan Terdekat dan Lamar Sekali Ketuk menjadi pembeda utama dibanding aplikasi lowongan umum.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 dari kiri atas ke kanan bawah. Kartu bertingkat menggambarkan perkembangan pengguna dari pencarian hingga wawancara.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ketiga desain per aspek. Tidak ada satu desain yang terbaik untuk semua pengguna.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Pengembangan dibagi lima tahap agar setiap fitur dapat diuji dengan pengguna sebelum lanjut.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rekomendasi penggunaan ketiga desain: A sebagai utama, B sebagai tema kontras tinggi, C sebagai opsi minimalis.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GAWEAN  •  KONSEP DESAIN APLIKASI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GAWEAN  •  KONSEP DESAIN APLIKASI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76809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301752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KONSEP APLIKASI ANDROID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8800" b="1" dirty="0" err="1" smtClean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KerjoAtos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747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Temukan kerja di sekitarmu, lamar dalam satu ketukan.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864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Presentasi konsep produk, fitur, alur pengguna, dan tiga alternatif desain UI.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38160" y="594360"/>
            <a:ext cx="2834640" cy="5669280"/>
          </a:xfrm>
          <a:prstGeom prst="roundRect">
            <a:avLst>
              <a:gd name="adj" fmla="val 14516"/>
            </a:avLst>
          </a:prstGeom>
          <a:solidFill>
            <a:srgbClr val="1B1B24"/>
          </a:solidFill>
          <a:ln w="12700">
            <a:solidFill>
              <a:srgbClr val="BFBFC4"/>
            </a:solidFill>
            <a:prstDash val="solid"/>
          </a:ln>
          <a:effectLst>
            <a:outerShdw blurRad="127000" dist="508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47888" y="704088"/>
            <a:ext cx="2615184" cy="5449824"/>
          </a:xfrm>
          <a:prstGeom prst="roundRect">
            <a:avLst>
              <a:gd name="adj" fmla="val 12238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375904" y="832104"/>
            <a:ext cx="2359152" cy="1691640"/>
          </a:xfrm>
          <a:prstGeom prst="roundRect">
            <a:avLst>
              <a:gd name="adj" fmla="val 15135"/>
            </a:avLst>
          </a:prstGeom>
          <a:solidFill>
            <a:srgbClr val="E859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77072" y="996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500" b="1" dirty="0" err="1" smtClean="0">
                <a:solidFill>
                  <a:srgbClr val="FFFFFF"/>
                </a:solidFill>
              </a:rPr>
              <a:t>KerjoAtos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577072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Cari kerja di dekatmu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22208" y="1801368"/>
            <a:ext cx="206654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23376" y="1801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6B"/>
                </a:solidFill>
              </a:rPr>
              <a:t>Cari posisi atau lokasi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0" y="271576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B1B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27157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Dekat saya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45168" y="271576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FFF1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45168" y="27157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90C"/>
                </a:solidFill>
              </a:rPr>
              <a:t>Part-time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140696" y="2715768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FFF1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140696" y="271576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90C"/>
                </a:solidFill>
              </a:rPr>
              <a:t>Shift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264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1B24"/>
                </a:solidFill>
              </a:rPr>
              <a:t>Terdekat darimu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5904" y="3584448"/>
            <a:ext cx="2359152" cy="1005840"/>
          </a:xfrm>
          <a:prstGeom prst="roundRect">
            <a:avLst>
              <a:gd name="adj" fmla="val 14545"/>
            </a:avLst>
          </a:prstGeom>
          <a:solidFill>
            <a:srgbClr val="FFF1E8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72160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E8590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039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62288" y="36941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1B24"/>
                </a:solidFill>
              </a:rPr>
              <a:t>Barista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62288" y="39319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B6B"/>
                </a:solidFill>
              </a:rPr>
              <a:t>Kopi Senja • 0,8 km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62288" y="422452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62288" y="4224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Rp 90 rb/hari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75904" y="4727448"/>
            <a:ext cx="2359152" cy="1005840"/>
          </a:xfrm>
          <a:prstGeom prst="roundRect">
            <a:avLst>
              <a:gd name="adj" fmla="val 14545"/>
            </a:avLst>
          </a:prstGeom>
          <a:solidFill>
            <a:srgbClr val="FFF1E8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86460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E8590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03920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162288" y="48371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1B24"/>
                </a:solidFill>
              </a:rPr>
              <a:t>Kasir Toko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162288" y="50749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B6B"/>
                </a:solidFill>
              </a:rPr>
              <a:t>Mitra Mart • 1,5 km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62288" y="536752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62288" y="5367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Rp 85 rb/hari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299448" y="5843016"/>
            <a:ext cx="128016" cy="12801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6" name="Shape 34"/>
          <p:cNvSpPr/>
          <p:nvPr/>
        </p:nvSpPr>
        <p:spPr>
          <a:xfrm>
            <a:off x="9528048" y="5843016"/>
            <a:ext cx="128016" cy="128016"/>
          </a:xfrm>
          <a:prstGeom prst="ellipse">
            <a:avLst/>
          </a:prstGeom>
          <a:solidFill>
            <a:srgbClr val="D9D9DE"/>
          </a:solidFill>
          <a:ln/>
        </p:spPr>
      </p:sp>
      <p:sp>
        <p:nvSpPr>
          <p:cNvPr id="37" name="Shape 35"/>
          <p:cNvSpPr/>
          <p:nvPr/>
        </p:nvSpPr>
        <p:spPr>
          <a:xfrm>
            <a:off x="9756648" y="5843016"/>
            <a:ext cx="128016" cy="128016"/>
          </a:xfrm>
          <a:prstGeom prst="ellipse">
            <a:avLst/>
          </a:prstGeom>
          <a:solidFill>
            <a:srgbClr val="D9D9D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01 • GAMBARAN PRODUK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Apa </a:t>
            </a:r>
            <a:r>
              <a:rPr lang="en-US" sz="3400" b="1" dirty="0" err="1">
                <a:solidFill>
                  <a:schemeClr val="tx1"/>
                </a:solidFill>
              </a:rPr>
              <a:t>itu</a:t>
            </a:r>
            <a:r>
              <a:rPr lang="en-US" sz="3400" b="1" dirty="0">
                <a:solidFill>
                  <a:schemeClr val="tx1"/>
                </a:solidFill>
              </a:rPr>
              <a:t> </a:t>
            </a:r>
            <a:r>
              <a:rPr lang="en-US" dirty="0" err="1" smtClean="0"/>
              <a:t>KerjoAtos</a:t>
            </a:r>
            <a:r>
              <a:rPr lang="en-US" sz="3400" b="1" dirty="0" smtClean="0">
                <a:solidFill>
                  <a:schemeClr val="tx1"/>
                </a:solidFill>
              </a:rPr>
              <a:t>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Aplikasi mobile yang mempertemukan pencari kerja dengan lowongan di sekitar mereka, dari kerja penuh waktu sampai paruh waktu.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4846320" cy="3566160"/>
          </a:xfrm>
          <a:prstGeom prst="roundRect">
            <a:avLst>
              <a:gd name="adj" fmla="val 641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SOLUSI GAWEAN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Satu aplikasi untuk menemukan lowongan terdekat, melihat gaji secara transparan, melamar sekali ketuk, dan mengobrol langsung dengan perekrut.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468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Masalah yang ingin diselesaikan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0" y="3108960"/>
            <a:ext cx="5696712" cy="868680"/>
          </a:xfrm>
          <a:prstGeom prst="roundRect">
            <a:avLst>
              <a:gd name="adj" fmla="val 18947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3264408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41071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903720" y="31089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Lowongan lokal sering hanya beredar lewat spanduk dan grup chat.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943600" y="4133088"/>
            <a:ext cx="5696712" cy="868680"/>
          </a:xfrm>
          <a:prstGeom prst="roundRect">
            <a:avLst>
              <a:gd name="adj" fmla="val 18947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6126480" y="4288536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44348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903720" y="41330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Pencari kerja sulit mengetahui jarak, gaji, dan jadwal sebelum melamar.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943600" y="5157216"/>
            <a:ext cx="5696712" cy="868680"/>
          </a:xfrm>
          <a:prstGeom prst="roundRect">
            <a:avLst>
              <a:gd name="adj" fmla="val 18947"/>
            </a:avLst>
          </a:prstGeom>
          <a:solidFill>
            <a:schemeClr val="bg2"/>
          </a:solidFill>
          <a:ln/>
        </p:spPr>
      </p:sp>
      <p:sp>
        <p:nvSpPr>
          <p:cNvPr id="19" name="Shape 15"/>
          <p:cNvSpPr/>
          <p:nvPr/>
        </p:nvSpPr>
        <p:spPr>
          <a:xfrm>
            <a:off x="6126480" y="5312664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545896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03720" y="515721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Proses melamar panjang dan kabar dari perekrut tidak jelas.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332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133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02 • TUJUAN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Tujuan dan manfaat aplikasi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Fokus pada pengalaman mencari kerja yang dekat, jelas, dan cepat.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66160" cy="3383280"/>
          </a:xfrm>
          <a:prstGeom prst="roundRect">
            <a:avLst>
              <a:gd name="adj" fmla="val 594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Dekat &amp; relevan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348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Lowongan diurutkan berdasarkan jarak, jenis kerja, dan jadwal yang cocok.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02836" y="2377440"/>
            <a:ext cx="3566160" cy="3383280"/>
          </a:xfrm>
          <a:prstGeom prst="roundRect">
            <a:avLst>
              <a:gd name="adj" fmla="val 594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68596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768596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Gaji transparan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68596" y="44348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Kisaran gaji, jam kerja, dan syarat tampil jelas sebelum melamar.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57032" y="2377440"/>
            <a:ext cx="3566160" cy="3383280"/>
          </a:xfrm>
          <a:prstGeom prst="roundRect">
            <a:avLst>
              <a:gd name="adj" fmla="val 5946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22792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622792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Cepat &amp; terhubung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22792" y="44348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Lamar sekali ketuk dan pantau kabar lewat obrolan dengan perekrut.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93392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03 • FITUR UTAMA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Fitur yang direncanakan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Prioritas pengembangan aplikasi pencari kerja Gawean.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514600"/>
            <a:ext cx="731520" cy="731520"/>
          </a:xfrm>
          <a:prstGeom prst="roundRect">
            <a:avLst>
              <a:gd name="adj" fmla="val 22500"/>
            </a:avLst>
          </a:prstGeom>
          <a:solidFill>
            <a:schemeClr val="accent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97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Lowongan Terdekat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816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Lihat lowongan di peta dan daftar berdasarkan jarak.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36792" y="2286000"/>
            <a:ext cx="548640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6565392" y="2514600"/>
            <a:ext cx="731520" cy="731520"/>
          </a:xfrm>
          <a:prstGeom prst="roundRect">
            <a:avLst>
              <a:gd name="adj" fmla="val 22500"/>
            </a:avLst>
          </a:prstGeom>
          <a:solidFill>
            <a:schemeClr val="accent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6974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25512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Lamar Sekali Ketuk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525512" y="2816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Kirim profil dan CV tersimpan tanpa mengisi formulir lagi.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48640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3886200"/>
            <a:ext cx="731520" cy="731520"/>
          </a:xfrm>
          <a:prstGeom prst="roundRect">
            <a:avLst>
              <a:gd name="adj" fmla="val 22500"/>
            </a:avLst>
          </a:prstGeom>
          <a:solidFill>
            <a:schemeClr val="accent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0690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736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Info Gaji Transparan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737360" y="41879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Tampilkan kisaran gaji, jam kerja, dan sistem pembayaran.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336792" y="3657600"/>
            <a:ext cx="548640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6565392" y="3886200"/>
            <a:ext cx="731520" cy="731520"/>
          </a:xfrm>
          <a:prstGeom prst="roundRect">
            <a:avLst>
              <a:gd name="adj" fmla="val 22500"/>
            </a:avLst>
          </a:prstGeom>
          <a:solidFill>
            <a:schemeClr val="accent1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40690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25512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Notifikasi Lowongan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525512" y="41879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Dapat peringatan saat ada lowongan baru yang sesuai.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5029200"/>
            <a:ext cx="548640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5257800"/>
            <a:ext cx="731520" cy="731520"/>
          </a:xfrm>
          <a:prstGeom prst="roundRect">
            <a:avLst>
              <a:gd name="adj" fmla="val 22500"/>
            </a:avLst>
          </a:prstGeom>
          <a:solidFill>
            <a:schemeClr val="accent1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44068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737360" y="5212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Chat dengan Perekrut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1737360" y="55595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Tanya detail dan atur jadwal wawancara langsung.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6336792" y="5029200"/>
            <a:ext cx="548640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/>
        </p:spPr>
      </p:sp>
      <p:sp>
        <p:nvSpPr>
          <p:cNvPr id="32" name="Shape 25"/>
          <p:cNvSpPr/>
          <p:nvPr/>
        </p:nvSpPr>
        <p:spPr>
          <a:xfrm>
            <a:off x="6565392" y="5257800"/>
            <a:ext cx="731520" cy="731520"/>
          </a:xfrm>
          <a:prstGeom prst="roundRect">
            <a:avLst>
              <a:gd name="adj" fmla="val 22500"/>
            </a:avLst>
          </a:prstGeom>
          <a:solidFill>
            <a:schemeClr val="accent1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72" y="544068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525512" y="5212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Ulasan Perusahaan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7525512" y="55595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Baca penilaian pekerja tentang tempat kerja.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61488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04 • PENGALAMAN PENGGUNA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Alur </a:t>
            </a:r>
            <a:r>
              <a:rPr lang="en-US" sz="3400" b="1" dirty="0" err="1">
                <a:solidFill>
                  <a:schemeClr val="tx1"/>
                </a:solidFill>
              </a:rPr>
              <a:t>penggunaan</a:t>
            </a:r>
            <a:r>
              <a:rPr lang="en-US" sz="3400" b="1" dirty="0">
                <a:solidFill>
                  <a:schemeClr val="tx1"/>
                </a:solidFill>
              </a:rPr>
              <a:t> </a:t>
            </a:r>
            <a:r>
              <a:rPr lang="en-US" dirty="0" err="1" smtClean="0"/>
              <a:t>KerjoAtos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Contoh perjalanan pengguna dari menemukan lowongan sampai mulai bekerja.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011680" cy="18288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6791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291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LANGKAH 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478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Buka &amp; aktifkan lokasi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34640" y="2560320"/>
            <a:ext cx="2011680" cy="18288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063240" y="2788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295351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63240" y="3566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LANGKAH 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063240" y="38221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Jelajah peta lowongan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120640" y="2834640"/>
            <a:ext cx="2011680" cy="18288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5349240" y="3063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322783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4924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LANGKAH 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349240" y="40965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Cek gaji &amp; detail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7406640" y="3108960"/>
            <a:ext cx="2011680" cy="18288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763524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350215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35240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LANGKAH 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7635240" y="43708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Lamar sekali ketuk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9692640" y="3383280"/>
            <a:ext cx="2011680" cy="18288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sp>
        <p:nvSpPr>
          <p:cNvPr id="27" name="Shape 21"/>
          <p:cNvSpPr/>
          <p:nvPr/>
        </p:nvSpPr>
        <p:spPr>
          <a:xfrm>
            <a:off x="9921240" y="3611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5832" y="3776472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92124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LANGKAH 5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9921240" y="46451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Chat &amp; wawancara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Catatan  </a:t>
            </a:r>
            <a:r>
              <a:rPr lang="en-US" sz="1400" dirty="0">
                <a:solidFill>
                  <a:schemeClr val="tx1"/>
                </a:solidFill>
              </a:rPr>
              <a:t>Pada tahap awal, tombol “Lamar” dapat mengarah ke WhatsApp atau situs resmi perekrut sebelum alur lamaran di dalam aplikasi tersedia.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089404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089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05 • ALTERNATIF 1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Desain A — Oranye Hangat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Karakter: hangat, ramah, dan energik. Cocok untuk pencari kerja harian dan paruh waktu.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7589520" cy="2788920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Ciri visual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995160" y="2852928"/>
            <a:ext cx="274320" cy="274320"/>
          </a:xfrm>
          <a:prstGeom prst="ellipse">
            <a:avLst/>
          </a:prstGeom>
          <a:solidFill>
            <a:srgbClr val="E8590C"/>
          </a:solidFill>
          <a:ln w="9525">
            <a:solidFill>
              <a:srgbClr val="BFB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2852928"/>
            <a:ext cx="274320" cy="274320"/>
          </a:xfrm>
          <a:prstGeom prst="ellipse">
            <a:avLst/>
          </a:prstGeom>
          <a:solidFill>
            <a:srgbClr val="FFF1E8"/>
          </a:solidFill>
          <a:ln w="9525">
            <a:solidFill>
              <a:srgbClr val="BFB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2852928"/>
            <a:ext cx="274320" cy="274320"/>
          </a:xfrm>
          <a:prstGeom prst="ellipse">
            <a:avLst/>
          </a:prstGeom>
          <a:solidFill>
            <a:srgbClr val="2E9E6B"/>
          </a:solidFill>
          <a:ln w="9525">
            <a:solidFill>
              <a:srgbClr val="BFBF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91840"/>
            <a:ext cx="7040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Oranye dominan memberi kesan hangat dan penuh semangat.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Jarak lowongan tampil di setiap kartu agar cepat dinilai.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Lencana gaji berwarna hijau mudah dipindai.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Sudut membulat membuat tampilan terasa bersahabat.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5577840"/>
            <a:ext cx="7589520" cy="6400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5778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Rekomendasi  </a:t>
            </a:r>
            <a:r>
              <a:rPr lang="en-US" sz="1500" dirty="0">
                <a:solidFill>
                  <a:schemeClr val="tx1"/>
                </a:solidFill>
              </a:rPr>
              <a:t>Jadikan desain utama untuk pengembangan awal.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32520" y="457200"/>
            <a:ext cx="2834640" cy="5669280"/>
          </a:xfrm>
          <a:prstGeom prst="roundRect">
            <a:avLst>
              <a:gd name="adj" fmla="val 14516"/>
            </a:avLst>
          </a:prstGeom>
          <a:solidFill>
            <a:srgbClr val="1B1B24"/>
          </a:solidFill>
          <a:ln w="12700">
            <a:solidFill>
              <a:srgbClr val="BFBFC4"/>
            </a:solidFill>
            <a:prstDash val="solid"/>
          </a:ln>
          <a:effectLst>
            <a:outerShdw blurRad="127000" dist="508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42248" y="566928"/>
            <a:ext cx="2615184" cy="5449824"/>
          </a:xfrm>
          <a:prstGeom prst="roundRect">
            <a:avLst>
              <a:gd name="adj" fmla="val 1223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970264" y="694944"/>
            <a:ext cx="2359152" cy="1691640"/>
          </a:xfrm>
          <a:prstGeom prst="roundRect">
            <a:avLst>
              <a:gd name="adj" fmla="val 15135"/>
            </a:avLst>
          </a:prstGeom>
          <a:solidFill>
            <a:srgbClr val="E8590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71432" y="859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Gawean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71432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Cari kerja di dekatmu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16568" y="1664208"/>
            <a:ext cx="206654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17736" y="1664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6B"/>
                </a:solidFill>
              </a:rPr>
              <a:t>Cari posisi atau lokasi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06840" y="257860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B1B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06840" y="25786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Dekat saya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939528" y="257860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FFF1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39528" y="25786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90C"/>
                </a:solidFill>
              </a:rPr>
              <a:t>Part-time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735056" y="2578608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FFF1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735056" y="257860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90C"/>
                </a:solidFill>
              </a:rPr>
              <a:t>Shift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3127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1B24"/>
                </a:solidFill>
              </a:rPr>
              <a:t>Terdekat darimu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70264" y="3447288"/>
            <a:ext cx="2359152" cy="1005840"/>
          </a:xfrm>
          <a:prstGeom prst="roundRect">
            <a:avLst>
              <a:gd name="adj" fmla="val 14545"/>
            </a:avLst>
          </a:prstGeom>
          <a:solidFill>
            <a:srgbClr val="FFF1E8"/>
          </a:solidFill>
          <a:ln/>
        </p:spPr>
      </p:sp>
      <p:sp>
        <p:nvSpPr>
          <p:cNvPr id="29" name="Shape 27"/>
          <p:cNvSpPr/>
          <p:nvPr/>
        </p:nvSpPr>
        <p:spPr>
          <a:xfrm>
            <a:off x="9098280" y="358444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E8590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98280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56648" y="35570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1B24"/>
                </a:solidFill>
              </a:rPr>
              <a:t>Barista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56648" y="37947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B6B"/>
                </a:solidFill>
              </a:rPr>
              <a:t>Kopi Senja • 0,8 km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56648" y="408736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756648" y="40873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Rp 90 rb/hari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70264" y="4590288"/>
            <a:ext cx="2359152" cy="1005840"/>
          </a:xfrm>
          <a:prstGeom prst="roundRect">
            <a:avLst>
              <a:gd name="adj" fmla="val 14545"/>
            </a:avLst>
          </a:prstGeom>
          <a:solidFill>
            <a:srgbClr val="FFF1E8"/>
          </a:solidFill>
          <a:ln/>
        </p:spPr>
      </p:sp>
      <p:sp>
        <p:nvSpPr>
          <p:cNvPr id="36" name="Shape 34"/>
          <p:cNvSpPr/>
          <p:nvPr/>
        </p:nvSpPr>
        <p:spPr>
          <a:xfrm>
            <a:off x="9098280" y="472744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E8590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098280" y="4727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756648" y="47000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1B24"/>
                </a:solidFill>
              </a:rPr>
              <a:t>Kasir Toko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756648" y="49377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B6B"/>
                </a:solidFill>
              </a:rPr>
              <a:t>Mitra Mart • 1,5 km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756648" y="523036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756648" y="52303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Rp 85 rb/hari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893808" y="5705856"/>
            <a:ext cx="128016" cy="12801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22408" y="5705856"/>
            <a:ext cx="128016" cy="128016"/>
          </a:xfrm>
          <a:prstGeom prst="ellipse">
            <a:avLst/>
          </a:prstGeom>
          <a:solidFill>
            <a:srgbClr val="D9D9D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351008" y="5705856"/>
            <a:ext cx="128016" cy="128016"/>
          </a:xfrm>
          <a:prstGeom prst="ellipse">
            <a:avLst/>
          </a:prstGeom>
          <a:solidFill>
            <a:srgbClr val="D9D9DE"/>
          </a:solidFill>
          <a:ln/>
        </p:spPr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089404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089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06 • ALTERNATIF 2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Desain B — Kuning Hitam Tegas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Karakter: berani, kontras tinggi, dan langsung ke inti. Cocok untuk pekerja lapangan dan shift.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7589520" cy="2788920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Ciri visual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995160" y="2852928"/>
            <a:ext cx="274320" cy="274320"/>
          </a:xfrm>
          <a:prstGeom prst="ellipse">
            <a:avLst/>
          </a:prstGeom>
          <a:solidFill>
            <a:srgbClr val="FFC21A"/>
          </a:solidFill>
          <a:ln w="9525">
            <a:solidFill>
              <a:srgbClr val="BFB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2852928"/>
            <a:ext cx="274320" cy="274320"/>
          </a:xfrm>
          <a:prstGeom prst="ellipse">
            <a:avLst/>
          </a:prstGeom>
          <a:solidFill>
            <a:srgbClr val="111111"/>
          </a:solidFill>
          <a:ln w="9525">
            <a:solidFill>
              <a:srgbClr val="BFB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285292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FBF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91840"/>
            <a:ext cx="7040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Kuning di atas hitam tetap terbaca di bawah sinar matahari.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Tombol “Lamar” besar dan penuh lebar, mudah ditekan satu tangan.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Garis tebal dan sudut tegas membedakan setiap kartu.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Teks besar membantu pengguna yang membaca sambil bergerak.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5577840"/>
            <a:ext cx="7589520" cy="6400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5778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Rekomendasi  </a:t>
            </a:r>
            <a:r>
              <a:rPr lang="en-US" sz="1500" dirty="0">
                <a:solidFill>
                  <a:schemeClr val="tx1"/>
                </a:solidFill>
              </a:rPr>
              <a:t>Tawarkan sebagai tema kontras tinggi.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32520" y="457200"/>
            <a:ext cx="2834640" cy="5669280"/>
          </a:xfrm>
          <a:prstGeom prst="roundRect">
            <a:avLst>
              <a:gd name="adj" fmla="val 14516"/>
            </a:avLst>
          </a:prstGeom>
          <a:solidFill>
            <a:srgbClr val="111111"/>
          </a:solidFill>
          <a:ln w="12700">
            <a:solidFill>
              <a:srgbClr val="BFBFC4"/>
            </a:solidFill>
            <a:prstDash val="solid"/>
          </a:ln>
          <a:effectLst>
            <a:outerShdw blurRad="127000" dist="508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42248" y="566928"/>
            <a:ext cx="2615184" cy="5449824"/>
          </a:xfrm>
          <a:prstGeom prst="roundRect">
            <a:avLst>
              <a:gd name="adj" fmla="val 12238"/>
            </a:avLst>
          </a:prstGeom>
          <a:solidFill>
            <a:srgbClr val="FFC21A"/>
          </a:solidFill>
          <a:ln/>
        </p:spPr>
      </p:sp>
      <p:sp>
        <p:nvSpPr>
          <p:cNvPr id="16" name="Shape 14"/>
          <p:cNvSpPr/>
          <p:nvPr/>
        </p:nvSpPr>
        <p:spPr>
          <a:xfrm>
            <a:off x="9025128" y="886968"/>
            <a:ext cx="2249424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62288" y="886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300" b="1" dirty="0" err="1" smtClean="0">
                <a:solidFill>
                  <a:srgbClr val="FFC21A"/>
                </a:solidFill>
              </a:rPr>
              <a:t>KerjoAtos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213848" y="886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Radius 5 km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070848" y="152704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</a:rPr>
              <a:t>KERJA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</a:rPr>
              <a:t>HARI INI.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070848" y="2487168"/>
            <a:ext cx="2157984" cy="411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08008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Cari lowongan...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34856" y="3191256"/>
            <a:ext cx="2103120" cy="11887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70848" y="3127248"/>
            <a:ext cx="2103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08008" y="3218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Kurir Paket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08008" y="34564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B6B"/>
                </a:solidFill>
              </a:rPr>
              <a:t>Ekspres Jaya • 2 km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208008" y="3675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Rp 120 rb/hari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08008" y="3950208"/>
            <a:ext cx="182880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08008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C21A"/>
                </a:solidFill>
              </a:rPr>
              <a:t>LAMAR 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34856" y="4608576"/>
            <a:ext cx="2103120" cy="11887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Shape 28"/>
          <p:cNvSpPr/>
          <p:nvPr/>
        </p:nvSpPr>
        <p:spPr>
          <a:xfrm>
            <a:off x="9070848" y="4544568"/>
            <a:ext cx="21031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08008" y="4636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Staf Gudang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208008" y="4873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B6B"/>
                </a:solidFill>
              </a:rPr>
              <a:t>Logistik Prima • 3 km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208008" y="5093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Rp 110 rb/hari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208008" y="5367528"/>
            <a:ext cx="182880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208008" y="5367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C21A"/>
                </a:solidFill>
              </a:rPr>
              <a:t>LAMAR →</a:t>
            </a:r>
            <a:endParaRPr lang="en-US" sz="1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089404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089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07 • ALTERNATIF 3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Desain C — Monokrom Minimalis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Karakter: bersih, tenang, dan fokus pada isi. Cocok untuk profesional dan pekerja kantoran.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7589520" cy="2788920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Ciri visual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995160" y="2852928"/>
            <a:ext cx="274320" cy="274320"/>
          </a:xfrm>
          <a:prstGeom prst="ellipse">
            <a:avLst/>
          </a:prstGeom>
          <a:solidFill>
            <a:srgbClr val="111111"/>
          </a:solidFill>
          <a:ln w="9525">
            <a:solidFill>
              <a:srgbClr val="BFB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285292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FB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2852928"/>
            <a:ext cx="274320" cy="274320"/>
          </a:xfrm>
          <a:prstGeom prst="ellipse">
            <a:avLst/>
          </a:prstGeom>
          <a:solidFill>
            <a:srgbClr val="2E9E6B"/>
          </a:solidFill>
          <a:ln w="9525">
            <a:solidFill>
              <a:srgbClr val="BFBF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91840"/>
            <a:ext cx="7040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Hitam-putih dengan satu aksen hijau untuk status lowongan baru.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Daftar berbaris, bukan kartu, memuat lebih banyak lowongan per layar.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Ruang putih lapang mengurangi lelah membaca.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Tipografi besar menjadi pusat hierarki visual.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5577840"/>
            <a:ext cx="7589520" cy="6400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5778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Rekomendasi  </a:t>
            </a:r>
            <a:r>
              <a:rPr lang="en-US" sz="1500" dirty="0">
                <a:solidFill>
                  <a:schemeClr val="tx1"/>
                </a:solidFill>
              </a:rPr>
              <a:t>Sediakan untuk pengguna yang menyukai tampilan simpel.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32520" y="457200"/>
            <a:ext cx="2834640" cy="5669280"/>
          </a:xfrm>
          <a:prstGeom prst="roundRect">
            <a:avLst>
              <a:gd name="adj" fmla="val 14516"/>
            </a:avLst>
          </a:prstGeom>
          <a:solidFill>
            <a:srgbClr val="E4E4E7"/>
          </a:solidFill>
          <a:ln w="12700">
            <a:solidFill>
              <a:srgbClr val="BFBFC4"/>
            </a:solidFill>
            <a:prstDash val="solid"/>
          </a:ln>
          <a:effectLst>
            <a:outerShdw blurRad="127000" dist="508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42248" y="566928"/>
            <a:ext cx="2615184" cy="5449824"/>
          </a:xfrm>
          <a:prstGeom prst="roundRect">
            <a:avLst>
              <a:gd name="adj" fmla="val 12238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16568" y="932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Gawean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853928" y="868680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853928" y="868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116568" y="143560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</a:rPr>
              <a:t>Temukan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</a:rPr>
              <a:t>pekerjaan.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116568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B6B"/>
                </a:solidFill>
              </a:rPr>
              <a:t>Cari posisi, perusahaan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16568" y="2715768"/>
            <a:ext cx="2066544" cy="0"/>
          </a:xfrm>
          <a:prstGeom prst="line">
            <a:avLst/>
          </a:prstGeom>
          <a:noFill/>
          <a:ln w="9525">
            <a:solidFill>
              <a:srgbClr val="BFBF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16568" y="28986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Semua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756648" y="28986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B6B"/>
                </a:solidFill>
              </a:rPr>
              <a:t>Terdekat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533888" y="28986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B6B"/>
                </a:solidFill>
              </a:rPr>
              <a:t>Remote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16568" y="34015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Desainer Grafis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16568" y="3648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B6B"/>
                </a:solidFill>
              </a:rPr>
              <a:t>Studio Aksara • 1,1 km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116568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Rp 4–5 jt/bulan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652760" y="3447288"/>
            <a:ext cx="109728" cy="10972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799064" y="34015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9E6B"/>
                </a:solidFill>
              </a:rPr>
              <a:t>Baru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16568" y="4133088"/>
            <a:ext cx="2066544" cy="0"/>
          </a:xfrm>
          <a:prstGeom prst="line">
            <a:avLst/>
          </a:prstGeom>
          <a:noFill/>
          <a:ln w="9525">
            <a:solidFill>
              <a:srgbClr val="D9D9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16568" y="41788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Admin Gudang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116568" y="4425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B6B"/>
                </a:solidFill>
              </a:rPr>
              <a:t>Logistik Prima • 2,4 km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116568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Rp 3,5 jt/bulan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16568" y="4910328"/>
            <a:ext cx="2066544" cy="0"/>
          </a:xfrm>
          <a:prstGeom prst="line">
            <a:avLst/>
          </a:prstGeom>
          <a:noFill/>
          <a:ln w="9525">
            <a:solidFill>
              <a:srgbClr val="D9D9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16568" y="49560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Asisten Pajak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116568" y="5202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B6B"/>
                </a:solidFill>
              </a:rPr>
              <a:t>Kantor Anggara • 3 km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116568" y="5413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Rp 4,2 jt/bulan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16568" y="5687568"/>
            <a:ext cx="2066544" cy="0"/>
          </a:xfrm>
          <a:prstGeom prst="line">
            <a:avLst/>
          </a:prstGeom>
          <a:noFill/>
          <a:ln w="9525">
            <a:solidFill>
              <a:srgbClr val="D9D9DE"/>
            </a:solidFill>
            <a:prstDash val="solid"/>
          </a:ln>
        </p:spPr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08 • EVALUASI VISUAL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Perbandingan tiga desain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Setiap alternatif dipilih berdasarkan target pengguna dan karakter produk.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3767328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  <a:gridCol w="3017520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Aspek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 • Oranye Hangat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</a:rPr>
                        <a:t>B • Kuning Hitam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 • Monokrom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B24"/>
                          </a:solidFill>
                        </a:rPr>
                        <a:t>Kesan utama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Hangat &amp; energik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Tegas &amp; mencolok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Bersih &amp; tenang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B24"/>
                          </a:solidFill>
                        </a:rPr>
                        <a:t>Warna dominan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Oranye / putih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Kuning / hitam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Hitam / putih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B24"/>
                          </a:solidFill>
                        </a:rPr>
                        <a:t>Target pengguna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Pekerja harian &amp; paruh waktu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Pekerja lapangan &amp; shift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Profesional &amp; pekerja kantoran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B24"/>
                          </a:solidFill>
                        </a:rPr>
                        <a:t>Kelebihan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Ramah dan mudah dikenali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Kontras kuat di luar ruangan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Banyak informasi per layar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B24"/>
                          </a:solidFill>
                        </a:rPr>
                        <a:t>Pertimbangan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Oranye perlu dijaga agar tidak terlalu ramai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Bisa terasa terlalu keras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B24"/>
                          </a:solidFill>
                        </a:rPr>
                        <a:t>Terkesan datar tanpa ilustrasi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65476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665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09 • PERENCANAAN PRODUK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Tahapan pengembangan aplikasi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Urutan implementasi agar Gawean dapat dibangun dan diuji secara bertahap.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914400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Riset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177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Wawancara pencari kerja dan pemilik usaha lokal.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2926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3464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Desain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46177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Susun wireframe, palet warna, navigasi, dan prototipe.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20640" y="2926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Implementasi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46177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Bangun peta lowongan, detail, lamar sekali ketuk, dan profil.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06640" y="2926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0664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Pengujian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6177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Uji peta, filter jarak, notifikasi, dan kemudahan penggunaan.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92640" y="29260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Evaluasi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46177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Perbaiki antarmuka berdasarkan umpan balik pengguna uji coba.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KESIMPULAN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smtClean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KerjoAtos</a:t>
            </a:r>
            <a:r>
              <a:rPr lang="en-US" sz="3800" b="1" smtClean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3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membantu pencari kerja menemukan pekerjaan yang dekat dan jelas.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Rekomendasi: mulai dari Desain A sebagai antarmuka utama, tambahkan Desain B sebagai tema kontras tinggi, dan siapkan Desain C untuk pengguna yang menyukai tampilan minimalis.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TERIMA KASIH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0" y="1828800"/>
            <a:ext cx="2194560" cy="2194560"/>
          </a:xfrm>
          <a:prstGeom prst="ellipse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9966960" y="1828800"/>
            <a:ext cx="2194560" cy="2194560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9" name="Shape 7"/>
          <p:cNvSpPr/>
          <p:nvPr/>
        </p:nvSpPr>
        <p:spPr>
          <a:xfrm>
            <a:off x="9098280" y="3566160"/>
            <a:ext cx="2194560" cy="2194560"/>
          </a:xfrm>
          <a:prstGeom prst="ellipse">
            <a:avLst/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96696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35661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wean">
  <a:themeElements>
    <a:clrScheme name="Gawean">
      <a:dk1>
        <a:srgbClr val="1B1B24"/>
      </a:dk1>
      <a:lt1>
        <a:srgbClr val="FFFFFF"/>
      </a:lt1>
      <a:dk2>
        <a:srgbClr val="5B5B6B"/>
      </a:dk2>
      <a:lt2>
        <a:srgbClr val="FFF1E8"/>
      </a:lt2>
      <a:accent1>
        <a:srgbClr val="E8590C"/>
      </a:accent1>
      <a:accent2>
        <a:srgbClr val="FFC21A"/>
      </a:accent2>
      <a:accent3>
        <a:srgbClr val="2E9E6B"/>
      </a:accent3>
      <a:accent4>
        <a:srgbClr val="FFD9C2"/>
      </a:accent4>
      <a:accent5>
        <a:srgbClr val="111111"/>
      </a:accent5>
      <a:accent6>
        <a:srgbClr val="D9D9DE"/>
      </a:accent6>
      <a:hlink>
        <a:srgbClr val="E8590C"/>
      </a:hlink>
      <a:folHlink>
        <a:srgbClr val="5B5B6B"/>
      </a:folHlink>
    </a:clrScheme>
    <a:fontScheme name="Gawe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1102</Words>
  <Application>Microsoft Office PowerPoint</Application>
  <PresentationFormat>Widescreen</PresentationFormat>
  <Paragraphs>222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Gawean</vt:lpstr>
      <vt:lpstr>PowerPoint Presentation</vt:lpstr>
      <vt:lpstr>Apa itu KerjoAtos?</vt:lpstr>
      <vt:lpstr>Tujuan dan manfaat aplikasi</vt:lpstr>
      <vt:lpstr>Fitur yang direncanakan</vt:lpstr>
      <vt:lpstr>Alur penggunaan KerjoAtos</vt:lpstr>
      <vt:lpstr>Desain A — Oranye Hangat</vt:lpstr>
      <vt:lpstr>Desain B — Kuning Hitam Tegas</vt:lpstr>
      <vt:lpstr>Desain C — Monokrom Minimalis</vt:lpstr>
      <vt:lpstr>Perbandingan tiga desain</vt:lpstr>
      <vt:lpstr>Tahapan pengembangan aplikasi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Gawean - Konsep Aplikasi Lowongan Kerja</dc:title>
  <dc:subject>PptxGenJS Presentation</dc:subject>
  <dc:creator>PptxGenJS</dc:creator>
  <cp:lastModifiedBy>Personal</cp:lastModifiedBy>
  <cp:revision>2</cp:revision>
  <dcterms:created xsi:type="dcterms:W3CDTF">2026-10-15T01:39:11Z</dcterms:created>
  <dcterms:modified xsi:type="dcterms:W3CDTF">2026-10-15T01:43:43Z</dcterms:modified>
</cp:coreProperties>
</file>